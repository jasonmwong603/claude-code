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COLD. Do not read the slide.
"Ask someone in their twenties when they'll own a home. They won't give you a year. They'll give you a feeling — probably never."
Pause. Then move to slide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NEEDS YOUR REAL DETAIL. Pick ONE and tell it properly:
· the month you nearly gave up
· the person who gave you advice that turned out to be wrong
· the number you were short by
Talking points: rebuilt the spreadsheet every month · every source said something different · the target moved every time you looked at it.
One concrete detail beats three general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these like you are still annoyed about it. They were YOUR questions.
Talking point to land after: "Every tool I found answered a different question than the one I was actually asking."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linger — this is evidence for a feeling, not the argument.
Talking points: "If it was that hard for me, what is it for someone starting now?" · "Most of you in this room bought somewhere inside that gap too."
If challenged: 2006 is CREA's own figure for a record year. No income number is quoted on purpose — the series isn't cleanly comparable that far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THE PHONE HERE. Have your own plan already on screen — never type live, never rely on venue wifi.
Talking points: income, savings, monthly · built on the real Canadian rules — FHSA, Home Buyers' Plan, the stress test · every dollar saved builds the house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LINE — do not cut for time: "I can't make the house cheaper. I can give people the answer I never got."
It pre-empts the sharpest question in the room and buys credibility for everything after it.
Talking point: today the answer is no, so people close the tab and stop saving entirely.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BIGGEST SCORING SLIDE — impact is 35 of 115 points, and "international" is written into it.
Talking points: when people can't see a path they stop building wealth at all — renters instead of owners, wealth that never compounds · every one of these countries has the same two problems: a generation priced out, and government programs nobody understands · KeyDate is a rules engine with a Canadian rulebook loaded.
Slow down on "The rulebook swaps."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BIGGEST SCORING SLIDE — community + sustainability is 20 points.
Talking points: the obvious way to monetise this is selling users to mortgage brokers — people who just told you their income, their savings, and exactly when they'll need a mortgage · most valuable lead list in the country · our privacy policy says we never will, in writing, live today · the moment I'm paid to push you toward a house I stop being able to tell you the truth.
Land the last line slowly.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Leadership is 15 points and you are solo — lead with evidence, not adjectives.
Talking points: live at keydate.ca right now · incorporated · privacy policy, terms and content moderation done before the first user — because I'd rather be trusted than fast · I built and shipped it myself.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MEMORISE THIS. Never read the close.
"Owning a home isn't impossible. It just doesn't have a date yet. We're giving it one."
Then stop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554480"/>
            <a:ext cx="576072" cy="576072"/>
          </a:xfrm>
          <a:prstGeom prst="ellipse">
            <a:avLst/>
          </a:prstGeom>
          <a:solidFill>
            <a:srgbClr val="FFFFFF">
              <a:alpha val="0"/>
            </a:srgbClr>
          </a:solidFill>
          <a:ln w="4953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07008" y="1787652"/>
            <a:ext cx="630936" cy="10287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91056" y="1787652"/>
            <a:ext cx="102870" cy="27432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2402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</a:t>
            </a:r>
            <a:pPr indent="0" marL="0">
              <a:buNone/>
            </a:pPr>
            <a:r>
              <a:rPr lang="en-US" sz="5800" b="1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Date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685800" y="333756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8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Owning a home isn’t impossible.</a:t>
            </a:r>
            <a:endParaRPr lang="en-US" sz="28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8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 has a date.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85800" y="5760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JCI Edmonton  ·  Creative Young Entrepreneur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59952" y="5760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keydate.ca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 BUILT THIS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69164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bought my first place.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788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E4D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was guessing the whole way.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85800" y="4297680"/>
            <a:ext cx="3364992" cy="777240"/>
          </a:xfrm>
          <a:prstGeom prst="roundRect">
            <a:avLst>
              <a:gd name="adj" fmla="val 16471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297680"/>
            <a:ext cx="3364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Spreadsheets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306824" y="4297680"/>
            <a:ext cx="3364992" cy="777240"/>
          </a:xfrm>
          <a:prstGeom prst="roundRect">
            <a:avLst>
              <a:gd name="adj" fmla="val 16471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06824" y="4297680"/>
            <a:ext cx="3364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Contradictory advice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927848" y="4297680"/>
            <a:ext cx="3364992" cy="777240"/>
          </a:xfrm>
          <a:prstGeom prst="roundRect">
            <a:avLst>
              <a:gd name="adj" fmla="val 16471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27848" y="4297680"/>
            <a:ext cx="3364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goal that kept moving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188720"/>
            <a:ext cx="384048" cy="384048"/>
          </a:xfrm>
          <a:prstGeom prst="ellipse">
            <a:avLst/>
          </a:prstGeom>
          <a:solidFill>
            <a:srgbClr val="FFFFFF">
              <a:alpha val="0"/>
            </a:srgbClr>
          </a:solidFill>
          <a:ln w="3302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" y="1344168"/>
            <a:ext cx="420624" cy="6858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89304" y="1344168"/>
            <a:ext cx="68580" cy="18288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9659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Nobody could tell me when.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3557016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34290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much do I actually need?</a:t>
            </a:r>
            <a:endParaRPr lang="en-US" sz="2500" dirty="0"/>
          </a:p>
        </p:txBody>
      </p:sp>
      <p:sp>
        <p:nvSpPr>
          <p:cNvPr id="8" name="Shape 6"/>
          <p:cNvSpPr/>
          <p:nvPr/>
        </p:nvSpPr>
        <p:spPr>
          <a:xfrm>
            <a:off x="731520" y="4306824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41788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 I even close?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731520" y="5056632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4928616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Is this the year, or five years away?</a:t>
            </a:r>
            <a:endParaRPr lang="en-US" sz="2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AND I HAD IT EASIER THAN THE PEOPLE BEHIND 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generation apart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4951476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5328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30175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$276,974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6551676" y="2240280"/>
            <a:ext cx="4951476" cy="2148840"/>
          </a:xfrm>
          <a:prstGeom prst="roundRect">
            <a:avLst>
              <a:gd name="adj" fmla="val 5957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63156" y="25328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963156" y="30175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$696,078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637276" y="31089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2.5×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85800" y="4709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Average Canadian home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85800" y="60350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Source: CREA (2006 average MLS price) · national average, June 2026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 I BUILT THE THING I NEEDED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Sixty seconds in. A real date out.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33172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645920" y="23774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questions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685800" y="342900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645920" y="347472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real month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685800" y="452628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4526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645920" y="457200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Watch it get closer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8138160" y="2148840"/>
            <a:ext cx="3364992" cy="3246120"/>
          </a:xfrm>
          <a:prstGeom prst="roundRect">
            <a:avLst>
              <a:gd name="adj" fmla="val 5070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5820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KEYS IN HAND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458200" y="29260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June 2029</a:t>
            </a:r>
            <a:endParaRPr lang="en-US" sz="3300" dirty="0"/>
          </a:p>
        </p:txBody>
      </p:sp>
      <p:sp>
        <p:nvSpPr>
          <p:cNvPr id="16" name="Shape 14"/>
          <p:cNvSpPr/>
          <p:nvPr/>
        </p:nvSpPr>
        <p:spPr>
          <a:xfrm>
            <a:off x="8458200" y="3977640"/>
            <a:ext cx="2743200" cy="256032"/>
          </a:xfrm>
          <a:prstGeom prst="roundRect">
            <a:avLst>
              <a:gd name="adj" fmla="val 50000"/>
            </a:avLst>
          </a:prstGeom>
          <a:solidFill>
            <a:srgbClr val="2C6349"/>
          </a:solidFill>
          <a:ln w="12700">
            <a:solidFill>
              <a:srgbClr val="2C63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58200" y="3977640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58200" y="437083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58% of the way there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INNOVATION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changed the question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5074920" cy="27432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6517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OTHER TOOL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" y="30632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“Afford it today?”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1143000" y="39776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B4452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No.</a:t>
            </a:r>
            <a:endParaRPr lang="en-US" sz="350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074920" cy="2743200"/>
          </a:xfrm>
          <a:prstGeom prst="roundRect">
            <a:avLst>
              <a:gd name="adj" fmla="val 5333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26517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KEYDATE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675120" y="30632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“When?”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6675120" y="39776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June 2029.</a:t>
            </a:r>
            <a:endParaRPr lang="en-US" sz="3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 WAS NEVER JUST MY STORY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engine doesn’t change at the border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Canada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807208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07208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Australia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928616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28616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050024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50024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Ireland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171432" y="242316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71432" y="242316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New Zealand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85800" y="4114800"/>
            <a:ext cx="10607040" cy="1371600"/>
          </a:xfrm>
          <a:prstGeom prst="roundRect">
            <a:avLst>
              <a:gd name="adj" fmla="val 10667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34440" y="411480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engine stays. </a:t>
            </a:r>
            <a:pPr indent="0" marL="0">
              <a:buNone/>
            </a:pPr>
            <a:r>
              <a:rPr lang="en-US" sz="26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rulebook swaps.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COMMUNITY IMPACT &amp; SUSTAINABILITY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money we refuse to take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331720"/>
            <a:ext cx="5074920" cy="2194560"/>
          </a:xfrm>
          <a:prstGeom prst="roundRect">
            <a:avLst>
              <a:gd name="adj" fmla="val 6667"/>
            </a:avLst>
          </a:prstGeom>
          <a:solidFill>
            <a:srgbClr val="17402F"/>
          </a:solidFill>
          <a:ln w="15240">
            <a:solidFill>
              <a:srgbClr val="3FA6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331720"/>
            <a:ext cx="4297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never sell you</a:t>
            </a:r>
            <a:endParaRPr lang="en-US" sz="23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 brokers.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6217920" y="2331720"/>
            <a:ext cx="5074920" cy="2194560"/>
          </a:xfrm>
          <a:prstGeom prst="roundRect">
            <a:avLst>
              <a:gd name="adj" fmla="val 6667"/>
            </a:avLst>
          </a:prstGeom>
          <a:solidFill>
            <a:srgbClr val="17402F"/>
          </a:solidFill>
          <a:ln w="15240">
            <a:solidFill>
              <a:srgbClr val="3FA6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0" y="2331720"/>
            <a:ext cx="4297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built the tool</a:t>
            </a:r>
            <a:endParaRPr lang="en-US" sz="23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that says don’t buy.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685800" y="5029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i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company on referral fees can never say that.</a:t>
            </a:r>
            <a:endParaRPr lang="en-US" sz="2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SCALABILITY &amp; LEADERSHIP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Built, shipped, live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5603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467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097280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municipalities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06824" y="228600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8304" y="25603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718304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 per user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927848" y="228600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39328" y="25603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339328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founder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80560"/>
            <a:ext cx="10607040" cy="1097280"/>
          </a:xfrm>
          <a:prstGeom prst="roundRect">
            <a:avLst>
              <a:gd name="adj" fmla="val 13333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34440" y="448056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4D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new country is a rulebook, not a rebuild.</a:t>
            </a:r>
            <a:endParaRPr lang="en-US" sz="2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63040"/>
            <a:ext cx="576072" cy="576072"/>
          </a:xfrm>
          <a:prstGeom prst="ellipse">
            <a:avLst/>
          </a:prstGeom>
          <a:solidFill>
            <a:srgbClr val="FFFFFF">
              <a:alpha val="0"/>
            </a:srgbClr>
          </a:solidFill>
          <a:ln w="4953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07008" y="1696212"/>
            <a:ext cx="630936" cy="10287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91056" y="1696212"/>
            <a:ext cx="102870" cy="27432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37744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35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 just doesn’t have</a:t>
            </a:r>
            <a:endParaRPr lang="en-US" sz="35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35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date yet.</a:t>
            </a:r>
            <a:endParaRPr lang="en-US" sz="3500" dirty="0"/>
          </a:p>
        </p:txBody>
      </p:sp>
      <p:sp>
        <p:nvSpPr>
          <p:cNvPr id="6" name="Text 4"/>
          <p:cNvSpPr/>
          <p:nvPr/>
        </p:nvSpPr>
        <p:spPr>
          <a:xfrm>
            <a:off x="685800" y="420624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We’re giving it one.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8580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keydate.ca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931152" y="5760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Edmonton beta opens this week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KeyDate — JCI Edmonton CYE</dc:title>
  <dc:subject>PptxGenJS Presentation</dc:subject>
  <dc:creator>KeyDate</dc:creator>
  <cp:lastModifiedBy>KeyDate</cp:lastModifiedBy>
  <cp:revision>1</cp:revision>
  <dcterms:created xsi:type="dcterms:W3CDTF">2026-08-05T22:18:21Z</dcterms:created>
  <dcterms:modified xsi:type="dcterms:W3CDTF">2026-08-05T22:18:21Z</dcterms:modified>
</cp:coreProperties>
</file>