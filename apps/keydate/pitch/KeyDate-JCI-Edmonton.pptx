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COLD. Do not read the slide.
"Ask someone in their twenties when they'll own a home. They won't give you a year. They'll give you a feeling — probably never."
Pause. Then move to slide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NEEDS YOUR REAL DETAIL. Pick ONE and tell it properly:
· the month you nearly gave up
· the person who gave you advice that turned out to be wrong
· the number you were short by
Talking points: rebuilt the spreadsheet every month · every source said something different · the target moved every time you looked at it.
One concrete detail beats three general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these like you are still annoyed about it. They were YOUR questions.
Talking point to land after: "Every tool I found answered a different question than the one I was actually asking."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linger — this is evidence for a feeling, not the argument.
Talking points: "If it was that hard for me, what is it for someone starting now?" · "Most of you in this room bought somewhere inside that gap too."
If challenged: 2006 is CREA's own figure for a record year. No income number is quoted on purpose — the series isn't cleanly comparable that far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HOLD UP THE PHONE HERE. Have your own plan already on screen — never type live, never rely on venue wifi.
Talking points: income, savings, monthly · built on the real Canadian rules — FHSA, Home Buyers' Plan, the stress test · every dollar saved builds the house on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LINE — do not cut for time: "I can't make the house cheaper. I can give people the answer I never got."
It pre-empts the sharpest question in the room and buys credibility for everything after it.
Talking point: today the answer is no, so people close the tab and stop saving entirely.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BIGGEST SCORING SLIDE — impact is 35 of 115 points, and "international" is written into it.
Talking points: when people can't see a path they stop building wealth at all — renters instead of owners, wealth that never compounds · every one of these countries has the same two problems: a generation priced out, and government programs nobody understands · KeyDate is a rules engine with a Canadian rulebook loaded.
Slow down on "The rulebook swaps."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BIGGEST SCORING SLIDE — community + sustainability is 20 points.
Talking points: the obvious way to monetise this is selling users to mortgage brokers — people who just told you their income, their savings, and exactly when they'll need a mortgage · most valuable lead list in the country · our privacy policy says we never will, in writing, live today · the moment I'm paid to push you toward a house I stop being able to tell you the truth.
Land the last line slowly.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Leadership is 15 points and you are solo — lead with evidence, not adjectives.
Talking points: live at keydate.ca right now · incorporated · privacy policy, terms and content moderation done before the first user — because I'd rather be trusted than fast · I built and shipped it myself.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MEMORISE THIS. Never read the close.
"Owning a home isn't impossible. It just doesn't have a date yet. We're giving it one."
Then stop talking.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51560"/>
            <a:ext cx="463162" cy="9875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22402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</a:t>
            </a:r>
            <a:pPr indent="0" marL="0">
              <a:buNone/>
            </a:pPr>
            <a:r>
              <a:rPr lang="en-US" sz="5800" b="1" dirty="0">
                <a:solidFill>
                  <a:srgbClr val="3FA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5800" dirty="0"/>
          </a:p>
        </p:txBody>
      </p:sp>
      <p:sp>
        <p:nvSpPr>
          <p:cNvPr id="4" name="Text 1"/>
          <p:cNvSpPr/>
          <p:nvPr/>
        </p:nvSpPr>
        <p:spPr>
          <a:xfrm>
            <a:off x="685800" y="333756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2800" dirty="0">
                <a:solidFill>
                  <a:srgbClr val="E3F2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Owning a home isn’t impossible.</a:t>
            </a:r>
            <a:endParaRPr lang="en-US" sz="28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2800" dirty="0">
                <a:solidFill>
                  <a:srgbClr val="E3F2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has a date.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85800" y="5760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F2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JCI Edmonton  ·  Creative Young Entrepreneur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759952" y="5760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keydate.ca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A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 BUILT THIS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69164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7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bought my first place.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85800" y="27889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E4D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was guessing the whole way.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85800" y="4297680"/>
            <a:ext cx="3364992" cy="777240"/>
          </a:xfrm>
          <a:prstGeom prst="roundRect">
            <a:avLst>
              <a:gd name="adj" fmla="val 16471"/>
            </a:avLst>
          </a:prstGeom>
          <a:solidFill>
            <a:srgbClr val="E3F2E9"/>
          </a:solidFill>
          <a:ln w="12700">
            <a:solidFill>
              <a:srgbClr val="3FA6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4297680"/>
            <a:ext cx="3364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4D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Spreadsheets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06824" y="4297680"/>
            <a:ext cx="3364992" cy="777240"/>
          </a:xfrm>
          <a:prstGeom prst="roundRect">
            <a:avLst>
              <a:gd name="adj" fmla="val 16471"/>
            </a:avLst>
          </a:prstGeom>
          <a:solidFill>
            <a:srgbClr val="E3F2E9"/>
          </a:solidFill>
          <a:ln w="12700">
            <a:solidFill>
              <a:srgbClr val="3FA6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06824" y="4297680"/>
            <a:ext cx="3364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4D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Contradictory advice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927848" y="4297680"/>
            <a:ext cx="3364992" cy="777240"/>
          </a:xfrm>
          <a:prstGeom prst="roundRect">
            <a:avLst>
              <a:gd name="adj" fmla="val 16471"/>
            </a:avLst>
          </a:prstGeom>
          <a:solidFill>
            <a:srgbClr val="E3F2E9"/>
          </a:solidFill>
          <a:ln w="12700">
            <a:solidFill>
              <a:srgbClr val="3FA6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27848" y="4297680"/>
            <a:ext cx="3364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4D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goal that kept moving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4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97280"/>
            <a:ext cx="308775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96596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could tell me when.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731520" y="3557016"/>
            <a:ext cx="164592" cy="164592"/>
          </a:xfrm>
          <a:prstGeom prst="ellipse">
            <a:avLst/>
          </a:prstGeom>
          <a:solidFill>
            <a:srgbClr val="3FA672"/>
          </a:solidFill>
          <a:ln w="12700">
            <a:solidFill>
              <a:srgbClr val="3FA67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188720" y="34290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E3F2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do I actually need?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731520" y="4306824"/>
            <a:ext cx="164592" cy="164592"/>
          </a:xfrm>
          <a:prstGeom prst="ellipse">
            <a:avLst/>
          </a:prstGeom>
          <a:solidFill>
            <a:srgbClr val="3FA672"/>
          </a:solidFill>
          <a:ln w="12700">
            <a:solidFill>
              <a:srgbClr val="3FA67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17880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E3F2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 I even close?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731520" y="5056632"/>
            <a:ext cx="164592" cy="164592"/>
          </a:xfrm>
          <a:prstGeom prst="ellipse">
            <a:avLst/>
          </a:prstGeom>
          <a:solidFill>
            <a:srgbClr val="3FA672"/>
          </a:solidFill>
          <a:ln w="12700">
            <a:solidFill>
              <a:srgbClr val="3FA67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88720" y="492861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E3F2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this the year, or five years away?</a:t>
            </a:r>
            <a:endParaRPr lang="en-US" sz="2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A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 HAD IT EASIER THAN THE PEOPLE BEHIND 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7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generation apart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2240280"/>
            <a:ext cx="4951476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DDE4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5328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301752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7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$276,974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551676" y="2240280"/>
            <a:ext cx="4951476" cy="2148840"/>
          </a:xfrm>
          <a:prstGeom prst="roundRect">
            <a:avLst>
              <a:gd name="adj" fmla="val 5957"/>
            </a:avLst>
          </a:prstGeom>
          <a:solidFill>
            <a:srgbClr val="1E4D3B"/>
          </a:solidFill>
          <a:ln w="12700">
            <a:solidFill>
              <a:srgbClr val="1E4D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63156" y="25328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63156" y="301752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$696,078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637276" y="3108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3FA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2.5×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85800" y="47091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Canadian home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603504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CREA (2006 average MLS price) · national average, June 2026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A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I BUILT THE THING I NEEDED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7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Sixty seconds in. A real date out.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2331720"/>
            <a:ext cx="640080" cy="640080"/>
          </a:xfrm>
          <a:prstGeom prst="ellipse">
            <a:avLst/>
          </a:prstGeom>
          <a:solidFill>
            <a:srgbClr val="1E4D3B"/>
          </a:solidFill>
          <a:ln w="12700">
            <a:solidFill>
              <a:srgbClr val="1E4D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645920" y="23774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questions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685800" y="3429000"/>
            <a:ext cx="640080" cy="640080"/>
          </a:xfrm>
          <a:prstGeom prst="ellipse">
            <a:avLst/>
          </a:prstGeom>
          <a:solidFill>
            <a:srgbClr val="1E4D3B"/>
          </a:solidFill>
          <a:ln w="12700">
            <a:solidFill>
              <a:srgbClr val="1E4D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429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645920" y="347472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month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685800" y="4526280"/>
            <a:ext cx="640080" cy="640080"/>
          </a:xfrm>
          <a:prstGeom prst="ellipse">
            <a:avLst/>
          </a:prstGeom>
          <a:solidFill>
            <a:srgbClr val="1E4D3B"/>
          </a:solidFill>
          <a:ln w="12700">
            <a:solidFill>
              <a:srgbClr val="1E4D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4526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645920" y="457200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it get closer</a:t>
            </a:r>
            <a:endParaRPr lang="en-US" sz="25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2" y="1783080"/>
            <a:ext cx="3291840" cy="365760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7302A">
                <a:alpha val="28000"/>
              </a:srgbClr>
            </a:outerShdw>
          </a:effectLst>
        </p:spPr>
      </p:pic>
      <p:sp>
        <p:nvSpPr>
          <p:cNvPr id="14" name="Text 11"/>
          <p:cNvSpPr/>
          <p:nvPr/>
        </p:nvSpPr>
        <p:spPr>
          <a:xfrm>
            <a:off x="8028432" y="5532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screen, real plan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A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7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changed the question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2286000"/>
            <a:ext cx="5074920" cy="27432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4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26517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OTHER TOOL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43000" y="30632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5C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“Afford it today?”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143000" y="39776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B44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</a:t>
            </a:r>
            <a:endParaRPr lang="en-US" sz="3500" dirty="0"/>
          </a:p>
        </p:txBody>
      </p:sp>
      <p:sp>
        <p:nvSpPr>
          <p:cNvPr id="8" name="Shape 6"/>
          <p:cNvSpPr/>
          <p:nvPr/>
        </p:nvSpPr>
        <p:spPr>
          <a:xfrm>
            <a:off x="6217920" y="2286000"/>
            <a:ext cx="5074920" cy="2743200"/>
          </a:xfrm>
          <a:prstGeom prst="roundRect">
            <a:avLst>
              <a:gd name="adj" fmla="val 5333"/>
            </a:avLst>
          </a:prstGeom>
          <a:solidFill>
            <a:srgbClr val="1E4D3B"/>
          </a:solidFill>
          <a:ln w="12700">
            <a:solidFill>
              <a:srgbClr val="1E4D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26517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KEYDATE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0" y="30632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“When?”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6675120" y="39776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3FA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2029.</a:t>
            </a:r>
            <a:endParaRPr lang="en-US" sz="3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A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WAS NEVER JUST MY STORY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7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 doesn’t change at the border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2423160"/>
            <a:ext cx="1975104" cy="1051560"/>
          </a:xfrm>
          <a:prstGeom prst="roundRect">
            <a:avLst>
              <a:gd name="adj" fmla="val 10435"/>
            </a:avLst>
          </a:prstGeom>
          <a:solidFill>
            <a:srgbClr val="3FA672"/>
          </a:solidFill>
          <a:ln w="12700">
            <a:solidFill>
              <a:srgbClr val="3FA6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423160"/>
            <a:ext cx="19751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Canada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807208" y="2423160"/>
            <a:ext cx="1975104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DE4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07208" y="2423160"/>
            <a:ext cx="19751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928616" y="2423160"/>
            <a:ext cx="1975104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DE4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28616" y="2423160"/>
            <a:ext cx="19751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050024" y="2423160"/>
            <a:ext cx="1975104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DE4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50024" y="2423160"/>
            <a:ext cx="19751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Ireland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171432" y="2423160"/>
            <a:ext cx="1975104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DE4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71432" y="2423160"/>
            <a:ext cx="19751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Zealand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85800" y="4114800"/>
            <a:ext cx="10607040" cy="1371600"/>
          </a:xfrm>
          <a:prstGeom prst="roundRect">
            <a:avLst>
              <a:gd name="adj" fmla="val 10667"/>
            </a:avLst>
          </a:prstGeom>
          <a:solidFill>
            <a:srgbClr val="1E4D3B"/>
          </a:solidFill>
          <a:ln w="12700">
            <a:solidFill>
              <a:srgbClr val="1E4D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4440" y="4114800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3F2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 stays. </a:t>
            </a:r>
            <a:pPr indent="0" marL="0">
              <a:buNone/>
            </a:pPr>
            <a:r>
              <a:rPr lang="en-US" sz="26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rulebook swaps.</a:t>
            </a:r>
            <a:endParaRPr lang="en-US" sz="2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4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IMPACT &amp; SUSTAINABILITY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money we refuse to take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2103120"/>
            <a:ext cx="5760720" cy="1417320"/>
          </a:xfrm>
          <a:prstGeom prst="roundRect">
            <a:avLst>
              <a:gd name="adj" fmla="val 10323"/>
            </a:avLst>
          </a:prstGeom>
          <a:solidFill>
            <a:srgbClr val="17402F"/>
          </a:solidFill>
          <a:ln w="15240">
            <a:solidFill>
              <a:srgbClr val="3FA6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210312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never sell you to brokers.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85800" y="3703320"/>
            <a:ext cx="5760720" cy="1417320"/>
          </a:xfrm>
          <a:prstGeom prst="roundRect">
            <a:avLst>
              <a:gd name="adj" fmla="val 10323"/>
            </a:avLst>
          </a:prstGeom>
          <a:solidFill>
            <a:srgbClr val="17402F"/>
          </a:solidFill>
          <a:ln w="15240">
            <a:solidFill>
              <a:srgbClr val="3FA6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370332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built the tool that says don’t buy.</a:t>
            </a:r>
            <a:endParaRPr lang="en-US" sz="2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828800"/>
            <a:ext cx="3867912" cy="4160520"/>
          </a:xfrm>
          <a:prstGeom prst="rect">
            <a:avLst/>
          </a:prstGeom>
          <a:effectLst>
            <a:outerShdw sx="100000" sy="100000" kx="0" ky="0" algn="bl" rotWithShape="0" blurRad="203200" dist="50800" dir="5400000">
              <a:srgbClr val="000000">
                <a:alpha val="35000"/>
              </a:srgbClr>
            </a:outerShdw>
          </a:effectLst>
        </p:spPr>
      </p:pic>
      <p:sp>
        <p:nvSpPr>
          <p:cNvPr id="9" name="Text 6"/>
          <p:cNvSpPr/>
          <p:nvPr/>
        </p:nvSpPr>
        <p:spPr>
          <a:xfrm>
            <a:off x="685800" y="544068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company on referral fees can never say that.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A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 &amp; LEADERSHIP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7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Built, shipped, live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2286000"/>
            <a:ext cx="3364992" cy="1874520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12700">
            <a:solidFill>
              <a:srgbClr val="DDE4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5603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FA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467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97280" y="34290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municipalities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06824" y="2286000"/>
            <a:ext cx="3364992" cy="1874520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12700">
            <a:solidFill>
              <a:srgbClr val="DDE4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18304" y="25603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FA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718304" y="34290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user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927848" y="2286000"/>
            <a:ext cx="3364992" cy="1874520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12700">
            <a:solidFill>
              <a:srgbClr val="DDE4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39328" y="25603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FA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339328" y="34290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4480560"/>
            <a:ext cx="10607040" cy="1097280"/>
          </a:xfrm>
          <a:prstGeom prst="roundRect">
            <a:avLst>
              <a:gd name="adj" fmla="val 13333"/>
            </a:avLst>
          </a:prstGeom>
          <a:solidFill>
            <a:srgbClr val="E3F2E9"/>
          </a:solidFill>
          <a:ln w="12700">
            <a:solidFill>
              <a:srgbClr val="3FA6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4440" y="4480560"/>
            <a:ext cx="9509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4D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country is a rulebook, not a rebuild.</a:t>
            </a:r>
            <a:endParaRPr lang="en-US" sz="2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4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43000"/>
            <a:ext cx="463162" cy="9875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2377440"/>
            <a:ext cx="10607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3500" dirty="0">
                <a:solidFill>
                  <a:srgbClr val="E3F2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just doesn’t have</a:t>
            </a:r>
            <a:endParaRPr lang="en-US" sz="35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3500" dirty="0">
                <a:solidFill>
                  <a:srgbClr val="E3F2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date yet.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685800" y="420624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We’re giving it one.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685800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keydate.ca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931152" y="5760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E3F2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Edmonton beta opens this week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KeyDate — JCI Edmonton CYE</dc:title>
  <dc:subject>PptxGenJS Presentation</dc:subject>
  <dc:creator>KeyDate</dc:creator>
  <cp:lastModifiedBy>KeyDate</cp:lastModifiedBy>
  <cp:revision>1</cp:revision>
  <dcterms:created xsi:type="dcterms:W3CDTF">2026-08-05T22:45:08Z</dcterms:created>
  <dcterms:modified xsi:type="dcterms:W3CDTF">2026-08-05T22:45:08Z</dcterms:modified>
</cp:coreProperties>
</file>